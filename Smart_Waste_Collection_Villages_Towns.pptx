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645920"/>
            <a:ext cx="10360152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34D399"/>
                </a:solidFill>
              </a:defRPr>
            </a:pPr>
            <a:r>
              <a:t>SMART WASTE COLLECTION FOR VILLAGES &amp; TOWNS</a:t>
            </a:r>
          </a:p>
          <a:p>
            <a:pPr>
              <a:spcBef>
                <a:spcPts val="1200"/>
              </a:spcBef>
              <a:defRPr sz="2000" b="1">
                <a:solidFill>
                  <a:srgbClr val="FFFFFF"/>
                </a:solidFill>
              </a:defRPr>
            </a:pPr>
            <a:r>
              <a:t>கிராமங்கள் மற்றும் நகரங்களுக்கான ஸ்மார்ட் கழிவு மேலாண்மை</a:t>
            </a:r>
          </a:p>
          <a:p>
            <a:pPr>
              <a:spcBef>
                <a:spcPts val="1600"/>
              </a:spcBef>
              <a:defRPr sz="1800">
                <a:solidFill>
                  <a:srgbClr val="94A3B8"/>
                </a:solidFill>
              </a:defRPr>
            </a:pPr>
            <a:r>
              <a:t>IoT Telemetry, Priority-Engine Routing &amp; AI Demand Forecasting Platform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914400" y="4937760"/>
            <a:ext cx="2377440" cy="64008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📡 IoT Bin Telemetry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474720" y="4937760"/>
            <a:ext cx="2377440" cy="64008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⚡ Weighted Priority Score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035040" y="4937760"/>
            <a:ext cx="2377440" cy="64008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🤖 AI Waste Demand Forecast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595359" y="4937760"/>
            <a:ext cx="2377440" cy="64008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📱 Bilingual PWA (EN | தமிழ்)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5943600"/>
            <a:ext cx="10360152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94A3B8"/>
                </a:solidFill>
              </a:defRPr>
            </a:pPr>
            <a:r>
              <a:t>Demonstrated in Narasipuram &amp; Coimbatore Town Panchayats | Powered by Supabase Realtime &amp; OSRM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457200"/>
            <a:ext cx="2926080" cy="365760"/>
          </a:xfrm>
          <a:prstGeom prst="roundRect">
            <a:avLst/>
          </a:prstGeom>
          <a:solidFill>
            <a:srgbClr val="064E3B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34D399"/>
                </a:solidFill>
              </a:defRPr>
            </a:pPr>
            <a:r>
              <a:t>PROBLEM STATEMENT / பிரச்சனை அறிக்கை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8686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Challenges in Rural &amp; Town Waste Management</a:t>
            </a:r>
          </a:p>
          <a:p>
            <a:pPr>
              <a:defRPr sz="1300">
                <a:solidFill>
                  <a:srgbClr val="94A3B8"/>
                </a:solidFill>
              </a:defRPr>
            </a:pPr>
            <a:r>
              <a:t>Why traditional fixed-schedule collection fails in semi-urban and village areas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920240"/>
            <a:ext cx="5120640" cy="192024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F43F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🚚 1. Fuel &amp; Time Waste</a:t>
            </a:r>
          </a:p>
          <a:p>
            <a:pPr>
              <a:spcBef>
                <a:spcPts val="800"/>
              </a:spcBef>
              <a:defRPr sz="1300">
                <a:solidFill>
                  <a:srgbClr val="94A3B8"/>
                </a:solidFill>
              </a:defRPr>
            </a:pPr>
            <a:r>
              <a:t>Vehicles travel rigid daily routes regardless of bin fill status, wasting 40%+ fuel visiting empty bins.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126480" y="1920240"/>
            <a:ext cx="5120640" cy="192024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F43F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⚠️ 2. Market &amp; Festival Overflow</a:t>
            </a:r>
          </a:p>
          <a:p>
            <a:pPr>
              <a:spcBef>
                <a:spcPts val="800"/>
              </a:spcBef>
              <a:defRPr sz="1300">
                <a:solidFill>
                  <a:srgbClr val="94A3B8"/>
                </a:solidFill>
              </a:defRPr>
            </a:pPr>
            <a:r>
              <a:t>Weekly village markets (shanthi) and festival days trigger sudden waste spikes causing open bin overflow.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4114800"/>
            <a:ext cx="5120640" cy="192024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F43F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🚫 3. Zero Realtime Telemetry</a:t>
            </a:r>
          </a:p>
          <a:p>
            <a:pPr>
              <a:spcBef>
                <a:spcPts val="800"/>
              </a:spcBef>
              <a:defRPr sz="1300">
                <a:solidFill>
                  <a:srgbClr val="94A3B8"/>
                </a:solidFill>
              </a:defRPr>
            </a:pPr>
            <a:r>
              <a:t>Panchayat admins have zero live data on bin fill levels, worker completion status, or overdue reports.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26480" y="4114800"/>
            <a:ext cx="5120640" cy="192024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F43F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😷 4. Health &amp; Delay Hazards</a:t>
            </a:r>
          </a:p>
          <a:p>
            <a:pPr>
              <a:spcBef>
                <a:spcPts val="800"/>
              </a:spcBef>
              <a:defRPr sz="1300">
                <a:solidFill>
                  <a:srgbClr val="94A3B8"/>
                </a:solidFill>
              </a:defRPr>
            </a:pPr>
            <a:r>
              <a:t>Unattended waste piles breed disease vectors (mosquitoes) and cause unmonitored citizen grievances.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457200"/>
            <a:ext cx="2926080" cy="365760"/>
          </a:xfrm>
          <a:prstGeom prst="roundRect">
            <a:avLst/>
          </a:prstGeom>
          <a:solidFill>
            <a:srgbClr val="064E3B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34D399"/>
                </a:solidFill>
              </a:defRPr>
            </a:pPr>
            <a:r>
              <a:t>PROPOSED SOLUTION / பரிந்துரைக்கப்பட்ட தீர்வு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8686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SmartWaste: Data-Driven Village Collection Architecture</a:t>
            </a:r>
          </a:p>
          <a:p>
            <a:pPr>
              <a:defRPr sz="1300">
                <a:solidFill>
                  <a:srgbClr val="94A3B8"/>
                </a:solidFill>
              </a:defRPr>
            </a:pPr>
            <a:r>
              <a:t>Connecting Citizens, Drivers, and Panchayat Admins via IoT &amp; Realtime GIS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920240"/>
            <a:ext cx="5120640" cy="192024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34D399"/>
                </a:solidFill>
              </a:defRPr>
            </a:pPr>
            <a:r>
              <a:t>1. Dual Telemetry Input</a:t>
            </a:r>
          </a:p>
          <a:p>
            <a:pPr>
              <a:spcBef>
                <a:spcPts val="800"/>
              </a:spcBef>
              <a:defRPr sz="1300">
                <a:solidFill>
                  <a:srgbClr val="94A3B8"/>
                </a:solidFill>
              </a:defRPr>
            </a:pPr>
            <a:r>
              <a:t>Ultrasonic IoT bin sensors + geotagged Citizen PWA complaints with photo uploads.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126480" y="1920240"/>
            <a:ext cx="5120640" cy="192024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34D399"/>
                </a:solidFill>
              </a:defRPr>
            </a:pPr>
            <a:r>
              <a:t>2. Dynamic Priority Engine</a:t>
            </a:r>
          </a:p>
          <a:p>
            <a:pPr>
              <a:spcBef>
                <a:spcPts val="800"/>
              </a:spcBef>
              <a:defRPr sz="1300">
                <a:solidFill>
                  <a:srgbClr val="94A3B8"/>
                </a:solidFill>
              </a:defRPr>
            </a:pPr>
            <a:r>
              <a:t>Weighted scoring formula (0-100) evaluating fill %, urgency, report age, and hotspot risk.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4114800"/>
            <a:ext cx="5120640" cy="192024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34D399"/>
                </a:solidFill>
              </a:defRPr>
            </a:pPr>
            <a:r>
              <a:t>3. OSRM Smart Routing</a:t>
            </a:r>
          </a:p>
          <a:p>
            <a:pPr>
              <a:spcBef>
                <a:spcPts val="800"/>
              </a:spcBef>
              <a:defRPr sz="1300">
                <a:solidFill>
                  <a:srgbClr val="94A3B8"/>
                </a:solidFill>
              </a:defRPr>
            </a:pPr>
            <a:r>
              <a:t>Turn-by-turn shortest path dynamic routes generated and pushed directly to driver mobile app.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26480" y="4114800"/>
            <a:ext cx="5120640" cy="192024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34D399"/>
                </a:solidFill>
              </a:defRPr>
            </a:pPr>
            <a:r>
              <a:t>4. AI Demand Forecasting</a:t>
            </a:r>
          </a:p>
          <a:p>
            <a:pPr>
              <a:spcBef>
                <a:spcPts val="800"/>
              </a:spcBef>
              <a:defRPr sz="1300">
                <a:solidFill>
                  <a:srgbClr val="94A3B8"/>
                </a:solidFill>
              </a:defRPr>
            </a:pPr>
            <a:r>
              <a:t>Predictive machine learning models anticipating waste accumulation spikes before market days.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457200"/>
            <a:ext cx="2926080" cy="365760"/>
          </a:xfrm>
          <a:prstGeom prst="roundRect">
            <a:avLst/>
          </a:prstGeom>
          <a:solidFill>
            <a:srgbClr val="064E3B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34D399"/>
                </a:solidFill>
              </a:defRPr>
            </a:pPr>
            <a:r>
              <a:t>KEY FEATURES / முக்கிய அம்சங்கள்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8686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Platform Capabilities &amp; Features</a:t>
            </a:r>
          </a:p>
          <a:p>
            <a:pPr>
              <a:defRPr sz="1300">
                <a:solidFill>
                  <a:srgbClr val="94A3B8"/>
                </a:solidFill>
              </a:defRPr>
            </a:pPr>
            <a:r>
              <a:t>Complete end-to-end features designed for rural and semi-urban governance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920240"/>
            <a:ext cx="3383280" cy="192024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500" b="1">
                <a:solidFill>
                  <a:srgbClr val="FFFFFF"/>
                </a:solidFill>
              </a:defRPr>
            </a:pPr>
            <a:r>
              <a:t>👥 Multi-Role Portals</a:t>
            </a:r>
          </a:p>
          <a:p>
            <a:pPr>
              <a:spcBef>
                <a:spcPts val="600"/>
              </a:spcBef>
              <a:defRPr sz="1200">
                <a:solidFill>
                  <a:srgbClr val="94A3B8"/>
                </a:solidFill>
              </a:defRPr>
            </a:pPr>
            <a:r>
              <a:t>Citizen, Worker/Driver, and Admin RBAC security portals.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297680" y="1920240"/>
            <a:ext cx="3383280" cy="192024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500" b="1">
                <a:solidFill>
                  <a:srgbClr val="FFFFFF"/>
                </a:solidFill>
              </a:defRPr>
            </a:pPr>
            <a:r>
              <a:t>🗺️ Interactive GIS Maps</a:t>
            </a:r>
          </a:p>
          <a:p>
            <a:pPr>
              <a:spcBef>
                <a:spcPts val="600"/>
              </a:spcBef>
              <a:defRPr sz="1200">
                <a:solidFill>
                  <a:srgbClr val="94A3B8"/>
                </a:solidFill>
              </a:defRPr>
            </a:pPr>
            <a:r>
              <a:t>Leaflet &amp; OpenStreetMap rendering of bins, reports &amp; live driver routes.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863840" y="1920240"/>
            <a:ext cx="3383280" cy="192024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500" b="1">
                <a:solidFill>
                  <a:srgbClr val="FFFFFF"/>
                </a:solidFill>
              </a:defRPr>
            </a:pPr>
            <a:r>
              <a:t>🗣️ Full Bilingual (EN | தமிழ்)</a:t>
            </a:r>
          </a:p>
          <a:p>
            <a:pPr>
              <a:spcBef>
                <a:spcPts val="600"/>
              </a:spcBef>
              <a:defRPr sz="1200">
                <a:solidFill>
                  <a:srgbClr val="94A3B8"/>
                </a:solidFill>
              </a:defRPr>
            </a:pPr>
            <a:r>
              <a:t>Instant live language switching across forms, labels &amp; notifications.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4114800"/>
            <a:ext cx="3383280" cy="192024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500" b="1">
                <a:solidFill>
                  <a:srgbClr val="FFFFFF"/>
                </a:solidFill>
              </a:defRPr>
            </a:pPr>
            <a:r>
              <a:t>📱 Installable PWA App</a:t>
            </a:r>
          </a:p>
          <a:p>
            <a:pPr>
              <a:spcBef>
                <a:spcPts val="600"/>
              </a:spcBef>
              <a:defRPr sz="1200">
                <a:solidFill>
                  <a:srgbClr val="94A3B8"/>
                </a:solidFill>
              </a:defRPr>
            </a:pPr>
            <a:r>
              <a:t>Offline Service Worker &amp; Manifest support for mobile &amp; desktop installation.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297680" y="4114800"/>
            <a:ext cx="3383280" cy="192024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500" b="1">
                <a:solidFill>
                  <a:srgbClr val="FFFFFF"/>
                </a:solidFill>
              </a:defRPr>
            </a:pPr>
            <a:r>
              <a:t>🚚 Driver Collection Flow</a:t>
            </a:r>
          </a:p>
          <a:p>
            <a:pPr>
              <a:spcBef>
                <a:spcPts val="600"/>
              </a:spcBef>
              <a:defRPr sz="1200">
                <a:solidFill>
                  <a:srgbClr val="94A3B8"/>
                </a:solidFill>
              </a:defRPr>
            </a:pPr>
            <a:r>
              <a:t>Guided workflow: START → ARRIVE → COLLECT → VERIFY with photo proof.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863840" y="4114800"/>
            <a:ext cx="3383280" cy="192024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500" b="1">
                <a:solidFill>
                  <a:srgbClr val="FFFFFF"/>
                </a:solidFill>
              </a:defRPr>
            </a:pPr>
            <a:r>
              <a:t>⚡ Supabase Realtime Sync</a:t>
            </a:r>
          </a:p>
          <a:p>
            <a:pPr>
              <a:spcBef>
                <a:spcPts val="600"/>
              </a:spcBef>
              <a:defRPr sz="1200">
                <a:solidFill>
                  <a:srgbClr val="94A3B8"/>
                </a:solidFill>
              </a:defRPr>
            </a:pPr>
            <a:r>
              <a:t>Instant WebSocket database updates &amp; real-time notification alerts.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457200"/>
            <a:ext cx="2926080" cy="365760"/>
          </a:xfrm>
          <a:prstGeom prst="roundRect">
            <a:avLst/>
          </a:prstGeom>
          <a:solidFill>
            <a:srgbClr val="064E3B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34D399"/>
                </a:solidFill>
              </a:defRPr>
            </a:pPr>
            <a:r>
              <a:t>SYSTEM ARCHITECTURE / பணிப்பாய்வு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8686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End-to-End Data Pipeline &amp; Working Workflow</a:t>
            </a:r>
          </a:p>
          <a:p>
            <a:pPr>
              <a:defRPr sz="1300">
                <a:solidFill>
                  <a:srgbClr val="94A3B8"/>
                </a:solidFill>
              </a:defRPr>
            </a:pPr>
            <a:r>
              <a:t>How data flows from IoT bin sensors and citizen app to driver route verification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2011680"/>
            <a:ext cx="2057400" cy="41148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34D399"/>
                </a:solidFill>
              </a:defRPr>
            </a:pPr>
            <a:r>
              <a:t>STEP 1</a:t>
            </a:r>
          </a:p>
          <a:p>
            <a:pPr>
              <a:spcBef>
                <a:spcPts val="600"/>
              </a:spcBef>
              <a:defRPr sz="1500" b="1">
                <a:solidFill>
                  <a:srgbClr val="FFFFFF"/>
                </a:solidFill>
              </a:defRPr>
            </a:pPr>
            <a:r>
              <a:t>Data Capture</a:t>
            </a:r>
          </a:p>
          <a:p>
            <a:pPr>
              <a:spcBef>
                <a:spcPts val="1000"/>
              </a:spcBef>
              <a:defRPr sz="1200">
                <a:solidFill>
                  <a:srgbClr val="94A3B8"/>
                </a:solidFill>
              </a:defRPr>
            </a:pPr>
            <a:r>
              <a:t>Ultrasonic bin sensor fill % + Citizen PWA report with GPS geotagging.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926080" y="2011680"/>
            <a:ext cx="2057400" cy="41148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34D399"/>
                </a:solidFill>
              </a:defRPr>
            </a:pPr>
            <a:r>
              <a:t>STEP 2</a:t>
            </a:r>
          </a:p>
          <a:p>
            <a:pPr>
              <a:spcBef>
                <a:spcPts val="600"/>
              </a:spcBef>
              <a:defRPr sz="1500" b="1">
                <a:solidFill>
                  <a:srgbClr val="FFFFFF"/>
                </a:solidFill>
              </a:defRPr>
            </a:pPr>
            <a:r>
              <a:t>Supabase Realtime</a:t>
            </a:r>
          </a:p>
          <a:p>
            <a:pPr>
              <a:spcBef>
                <a:spcPts val="1000"/>
              </a:spcBef>
              <a:defRPr sz="1200">
                <a:solidFill>
                  <a:srgbClr val="94A3B8"/>
                </a:solidFill>
              </a:defRPr>
            </a:pPr>
            <a:r>
              <a:t>PostgreSQL database streaming with RLS security policies.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120640" y="2011680"/>
            <a:ext cx="2057400" cy="41148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34D399"/>
                </a:solidFill>
              </a:defRPr>
            </a:pPr>
            <a:r>
              <a:t>STEP 3</a:t>
            </a:r>
          </a:p>
          <a:p>
            <a:pPr>
              <a:spcBef>
                <a:spcPts val="600"/>
              </a:spcBef>
              <a:defRPr sz="1500" b="1">
                <a:solidFill>
                  <a:srgbClr val="FFFFFF"/>
                </a:solidFill>
              </a:defRPr>
            </a:pPr>
            <a:r>
              <a:t>Smart Processing</a:t>
            </a:r>
          </a:p>
          <a:p>
            <a:pPr>
              <a:spcBef>
                <a:spcPts val="1000"/>
              </a:spcBef>
              <a:defRPr sz="1200">
                <a:solidFill>
                  <a:srgbClr val="94A3B8"/>
                </a:solidFill>
              </a:defRPr>
            </a:pPr>
            <a:r>
              <a:t>Priority engine weights fill %, urgency, age + AI market surge forecast.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199" y="2011680"/>
            <a:ext cx="2057400" cy="41148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34D399"/>
                </a:solidFill>
              </a:defRPr>
            </a:pPr>
            <a:r>
              <a:t>STEP 4</a:t>
            </a:r>
          </a:p>
          <a:p>
            <a:pPr>
              <a:spcBef>
                <a:spcPts val="600"/>
              </a:spcBef>
              <a:defRPr sz="1500" b="1">
                <a:solidFill>
                  <a:srgbClr val="FFFFFF"/>
                </a:solidFill>
              </a:defRPr>
            </a:pPr>
            <a:r>
              <a:t>Route Dispatch</a:t>
            </a:r>
          </a:p>
          <a:p>
            <a:pPr>
              <a:spcBef>
                <a:spcPts val="1000"/>
              </a:spcBef>
              <a:defRPr sz="1200">
                <a:solidFill>
                  <a:srgbClr val="94A3B8"/>
                </a:solidFill>
              </a:defRPr>
            </a:pPr>
            <a:r>
              <a:t>OSRM API calculates shortest path &amp; dispatches turn-by-turn route to driver.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509760" y="2011680"/>
            <a:ext cx="2057400" cy="41148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34D399"/>
                </a:solidFill>
              </a:defRPr>
            </a:pPr>
            <a:r>
              <a:t>STEP 5</a:t>
            </a:r>
          </a:p>
          <a:p>
            <a:pPr>
              <a:spcBef>
                <a:spcPts val="600"/>
              </a:spcBef>
              <a:defRPr sz="1500" b="1">
                <a:solidFill>
                  <a:srgbClr val="FFFFFF"/>
                </a:solidFill>
              </a:defRPr>
            </a:pPr>
            <a:r>
              <a:t>Driver Verification</a:t>
            </a:r>
          </a:p>
          <a:p>
            <a:pPr>
              <a:spcBef>
                <a:spcPts val="1000"/>
              </a:spcBef>
              <a:defRPr sz="1200">
                <a:solidFill>
                  <a:srgbClr val="94A3B8"/>
                </a:solidFill>
              </a:defRPr>
            </a:pPr>
            <a:r>
              <a:t>Driver uploads photo proof on collection; map auto-cleans in real time.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457200"/>
            <a:ext cx="2926080" cy="365760"/>
          </a:xfrm>
          <a:prstGeom prst="roundRect">
            <a:avLst/>
          </a:prstGeom>
          <a:solidFill>
            <a:srgbClr val="064E3B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34D399"/>
                </a:solidFill>
              </a:defRPr>
            </a:pPr>
            <a:r>
              <a:t>BENEFITS &amp; FUTURE SCOPE / நன்மைகள் &amp; திட்டம்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8686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Measurable Impact &amp; Future Roadmap</a:t>
            </a:r>
          </a:p>
          <a:p>
            <a:pPr>
              <a:defRPr sz="1300">
                <a:solidFill>
                  <a:srgbClr val="94A3B8"/>
                </a:solidFill>
              </a:defRPr>
            </a:pPr>
            <a:r>
              <a:t>Transforming village waste management with data, efficiency, and sustainability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920240"/>
            <a:ext cx="3383280" cy="1645920"/>
          </a:xfrm>
          <a:prstGeom prst="roundRect">
            <a:avLst/>
          </a:prstGeom>
          <a:solidFill>
            <a:srgbClr val="064E3B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000" b="1">
                <a:solidFill>
                  <a:srgbClr val="34D399"/>
                </a:solidFill>
              </a:defRPr>
            </a:pPr>
            <a:r>
              <a:t>35% Fuel Savings</a:t>
            </a:r>
          </a:p>
          <a:p>
            <a:pPr>
              <a:spcBef>
                <a:spcPts val="600"/>
              </a:spcBef>
              <a:defRPr sz="1200">
                <a:solidFill>
                  <a:srgbClr val="FFFFFF"/>
                </a:solidFill>
              </a:defRPr>
            </a:pPr>
            <a:r>
              <a:t>Optimized OSRM dynamic routes eliminate trips to empty bins.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297680" y="1920240"/>
            <a:ext cx="3383280" cy="1645920"/>
          </a:xfrm>
          <a:prstGeom prst="roundRect">
            <a:avLst/>
          </a:prstGeom>
          <a:solidFill>
            <a:srgbClr val="064E3B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000" b="1">
                <a:solidFill>
                  <a:srgbClr val="34D399"/>
                </a:solidFill>
              </a:defRPr>
            </a:pPr>
            <a:r>
              <a:t>50% Faster Cleanup</a:t>
            </a:r>
          </a:p>
          <a:p>
            <a:pPr>
              <a:spcBef>
                <a:spcPts val="600"/>
              </a:spcBef>
              <a:defRPr sz="1200">
                <a:solidFill>
                  <a:srgbClr val="FFFFFF"/>
                </a:solidFill>
              </a:defRPr>
            </a:pPr>
            <a:r>
              <a:t>Priority score alerts accelerate critical cleanup response times.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863840" y="1920240"/>
            <a:ext cx="3383280" cy="1645920"/>
          </a:xfrm>
          <a:prstGeom prst="roundRect">
            <a:avLst/>
          </a:prstGeom>
          <a:solidFill>
            <a:srgbClr val="064E3B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000" b="1">
                <a:solidFill>
                  <a:srgbClr val="34D399"/>
                </a:solidFill>
              </a:defRPr>
            </a:pPr>
            <a:r>
              <a:t>85%+ Citizen Trust</a:t>
            </a:r>
          </a:p>
          <a:p>
            <a:pPr>
              <a:spcBef>
                <a:spcPts val="600"/>
              </a:spcBef>
              <a:defRPr sz="1200">
                <a:solidFill>
                  <a:srgbClr val="FFFFFF"/>
                </a:solidFill>
              </a:defRPr>
            </a:pPr>
            <a:r>
              <a:t>Transparent tracking &amp; full Tamil/English bilingual accessibility.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3840480"/>
            <a:ext cx="10698480" cy="237744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F59E0B"/>
                </a:solidFill>
              </a:defRPr>
            </a:pPr>
            <a:r>
              <a:t>🚀 FUTURE SCOPE &amp; EXPANSION ROADMAP</a:t>
            </a:r>
          </a:p>
          <a:p>
            <a:pPr>
              <a:spcBef>
                <a:spcPts val="800"/>
              </a:spcBef>
              <a:defRPr sz="1300">
                <a:solidFill>
                  <a:srgbClr val="FFFFFF"/>
                </a:solidFill>
              </a:defRPr>
            </a:pPr>
            <a:r>
              <a:t>• 1. LoRaWAN IoT Mesh: Ultra-low-power long-range rural sensor connectivity without cellular data costs.</a:t>
            </a:r>
          </a:p>
          <a:p>
            <a:pPr>
              <a:spcBef>
                <a:spcPts val="800"/>
              </a:spcBef>
              <a:defRPr sz="1300">
                <a:solidFill>
                  <a:srgbClr val="FFFFFF"/>
                </a:solidFill>
              </a:defRPr>
            </a:pPr>
            <a:r>
              <a:t>• 2. Satellite &amp; Drone AI: Automated computer vision surveys detecting open illegal dump yards in rural outskirts.</a:t>
            </a:r>
          </a:p>
          <a:p>
            <a:pPr>
              <a:spcBef>
                <a:spcPts val="800"/>
              </a:spcBef>
              <a:defRPr sz="1300">
                <a:solidFill>
                  <a:srgbClr val="FFFFFF"/>
                </a:solidFill>
              </a:defRPr>
            </a:pPr>
            <a:r>
              <a:t>• 3. Recycling Rewards Tokenomics: Gamified citizen reward points for household waste segregation at source.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